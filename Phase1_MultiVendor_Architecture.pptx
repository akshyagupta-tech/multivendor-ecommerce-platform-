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evaluators. Today we present our Java-native marketplace platform designed to empower micro-vendors through automated settlements and thread-safe trade infrastructure under SDGs 8 and 9[span_1](start_span)[span_1](end_span).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platforms systematically exploit micro-vendors through month-long capital locks and opaque commissions. Our platform addresses these exact bottlenecks by automating instant settlements and preventing inventory race conditions[span_2](start_span)[span_2](end_span).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existing solutions rely on heavy databases or coarse locks that freeze the system, our platform uses fine-grained per-SKU striped locking and an append-only write-ahead log to achieve zero data loss and sub-50ms latency in pure Java SE[span_8](start_span)[span_8](end_span).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mapped four key stakeholders to isolated system boundaries[span_14](start_span)[span_14](end_span). Crucially, our architecture integrates an independent settlement auditing workflow to enforce transparent financial reconciliation across all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requirements enforce strict boundaries: eight functional modules paired with verifiable non-functional benchmarks[span_21](start_span)[span_21](end_span). We guarantee zero overselling under heavy concurrency and zero data loss on unexpected process termination[span_22](start_span)[span_22](end_span).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architecture strictly decouples client presentation from the core business engine through TCP sockets[span_31](start_span)[span_31](end_span). This ensures client UI responsiveness while the server enforces transactional safety and immediate disk persistence[span_32](start_span)[span_32](end_span).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domain model explicitly demonstrates all core Unit 1 and Unit 2 requirements[span_41](start_span)[span_41](end_span). We enforce strict encapsulation, polymorphic method dispatch, clean inheritance hierarchies, and distinct compositional and aggregation lifecycles[span_42](start_span)[span_42](end_span).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handle flash sales without sacrificing throughput, we engineered a striped lock manager that isolates locks to individual SKUs[span_48](start_span)[span_48](end_span). Simultaneously, our settlement engine dynamically applies pro-vendor commission splits the moment an order is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package architecture strictly isolates concerns following standard enterprise conventions[span_57](start_span)[span_57](end_span). Robust custom exceptions enforce graceful error recovery, while our write-ahead logging ensures total state recovery in the event of an unexpected crash[span_58](start_span)[span_58](end_span).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Phase I delivers a rigorous requirements analysis and architectural blueprint that directly addresses industry pain points[span_67](start_span)[span_67](end_span). Our team is fully prepared to execute Phase II development and demonstrate our complete working system[span_68](start_span)[span_68](end_span).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PROJECT DESIGN DEFENSE  |  SEMESTER III  |  TOPIC 271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Multi-Vendor E-Commerce Management Platform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Architectural Specification for Fault-Tolerant, Distributed Trade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698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87168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[UN SDG 8: DECENT WORK &amp; ECONOMIC GROWTH]  </a:t>
            </a:r>
            <a:r>
              <a:rPr sz="1100">
                <a:solidFill>
                  <a:srgbClr val="F8FAFC"/>
                </a:solidFill>
              </a:rPr>
              <a:t>Subsidized 2% Micro-Artisan Fee Tiers &amp; Real-Time Payouts  |  </a:t>
            </a:r>
            <a:r>
              <a:rPr b="1" sz="1100">
                <a:solidFill>
                  <a:srgbClr val="38BDF8"/>
                </a:solidFill>
              </a:rPr>
              <a:t>[UN SDG 9: INDUSTRY &amp; INNOVATION]  </a:t>
            </a:r>
            <a:r>
              <a:rPr sz="1100">
                <a:solidFill>
                  <a:srgbClr val="F8FAFC"/>
                </a:solidFill>
              </a:rPr>
              <a:t>Distributed, Resilient Java SE Sockets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993392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17190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Member 01</a:t>
            </a:r>
          </a:p>
          <a:p>
            <a:pPr>
              <a:spcBef>
                <a:spcPts val="400"/>
              </a:spcBef>
              <a:defRPr b="1" sz="1100">
                <a:solidFill>
                  <a:srgbClr val="F8FAFC"/>
                </a:solidFill>
              </a:defRPr>
            </a:pPr>
            <a:r>
              <a:t>Team Lead &amp; BA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Req Analysis, SDG Scope &amp; Milestone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2" y="3291840"/>
            <a:ext cx="1993392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3474720"/>
            <a:ext cx="17190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Member 02</a:t>
            </a:r>
          </a:p>
          <a:p>
            <a:pPr>
              <a:spcBef>
                <a:spcPts val="400"/>
              </a:spcBef>
              <a:defRPr b="1" sz="1100">
                <a:solidFill>
                  <a:srgbClr val="F8FAFC"/>
                </a:solidFill>
              </a:defRPr>
            </a:pPr>
            <a:r>
              <a:t>System Architect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UML Class Models, Sockets &amp; Concurrency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4064" y="3291840"/>
            <a:ext cx="1993392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3474720"/>
            <a:ext cx="17190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Member 03</a:t>
            </a:r>
          </a:p>
          <a:p>
            <a:pPr>
              <a:spcBef>
                <a:spcPts val="400"/>
              </a:spcBef>
              <a:defRPr b="1" sz="1100">
                <a:solidFill>
                  <a:srgbClr val="F8FAFC"/>
                </a:solidFill>
              </a:defRPr>
            </a:pPr>
            <a:r>
              <a:t>Tech Dev Lead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Order Processing Engine &amp; Lock-Striping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0336" y="3291840"/>
            <a:ext cx="1993392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3474720"/>
            <a:ext cx="17190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Member 04</a:t>
            </a:r>
          </a:p>
          <a:p>
            <a:pPr>
              <a:spcBef>
                <a:spcPts val="400"/>
              </a:spcBef>
              <a:defRPr b="1" sz="1100">
                <a:solidFill>
                  <a:srgbClr val="F8FAFC"/>
                </a:solidFill>
              </a:defRPr>
            </a:pPr>
            <a:r>
              <a:t>Integration Lead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TCP Socket Protocol, Threads &amp; Collections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36608" y="3291840"/>
            <a:ext cx="1993392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3474720"/>
            <a:ext cx="17190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Member 05</a:t>
            </a:r>
          </a:p>
          <a:p>
            <a:pPr>
              <a:spcBef>
                <a:spcPts val="400"/>
              </a:spcBef>
              <a:defRPr b="1" sz="1100">
                <a:solidFill>
                  <a:srgbClr val="F8FAFC"/>
                </a:solidFill>
              </a:defRPr>
            </a:pPr>
            <a:r>
              <a:t>QA &amp; Docs Lead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WAL Durability Tests, Swing UI &amp; SRS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PROBLEM IDENTIFICATION &amp; REQUIREMENT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Industry Problem: Micro-Enterprise Liquidity &amp; Failure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REAL-WORLD MARKET BOTTLENECKS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Delayed Settlement Cycles: </a:t>
            </a:r>
            <a:r>
              <a:rPr sz="1100">
                <a:solidFill>
                  <a:srgbClr val="94A3B8"/>
                </a:solidFill>
                <a:latin typeface="Calibri"/>
              </a:rPr>
              <a:t>Monolithic marketplaces retain vendor funds for 14 to 30 days under broad risk reserves, choking micro-producer working capital.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Regressive Commission Squeeze: </a:t>
            </a:r>
            <a:r>
              <a:rPr sz="1100">
                <a:solidFill>
                  <a:srgbClr val="94A3B8"/>
                </a:solidFill>
                <a:latin typeface="Calibri"/>
              </a:rPr>
              <a:t>Standard flat commission rates (15% - 25%) systematically eliminate operating margins for handcraft artisans and cottage suppliers.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Burst-Traffic Overselling: </a:t>
            </a:r>
            <a:r>
              <a:rPr sz="1100">
                <a:solidFill>
                  <a:srgbClr val="94A3B8"/>
                </a:solidFill>
                <a:latin typeface="Calibri"/>
              </a:rPr>
              <a:t>Entry-level e-commerce platforms suffer critical race conditions during flash sales, generating unfulfillable backorders.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Opaque Dispute Resolution: </a:t>
            </a:r>
            <a:r>
              <a:rPr sz="1100">
                <a:solidFill>
                  <a:srgbClr val="94A3B8"/>
                </a:solidFill>
                <a:latin typeface="Calibri"/>
              </a:rPr>
              <a:t>Platform-controlled dispute algorithms penalize small vendors without access to auditable, non-repudiable transaction logs.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CASCADING FAILURE SCENARIO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High-Volume Flash Event
</a:t>
            </a:r>
            <a:r>
              <a:rPr sz="1050">
                <a:solidFill>
                  <a:srgbClr val="94A3B8"/>
                </a:solidFill>
                <a:latin typeface="Calibri"/>
              </a:rPr>
              <a:t>Simultaneous customer requests flood the inventory counter without synchronization.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Race Condition Execution
</a:t>
            </a:r>
            <a:r>
              <a:rPr sz="1050">
                <a:solidFill>
                  <a:srgbClr val="94A3B8"/>
                </a:solidFill>
                <a:latin typeface="Calibri"/>
              </a:rPr>
              <a:t>Multiple checkout threads observe identical stock &gt; 0, producing negative inventory.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Algorithmic Sanctioning
</a:t>
            </a:r>
            <a:r>
              <a:rPr sz="1050">
                <a:solidFill>
                  <a:srgbClr val="94A3B8"/>
                </a:solidFill>
                <a:latin typeface="Calibri"/>
              </a:rPr>
              <a:t>Merchant portal cancels oversold items; platform algorithm downgrades vendor ranking.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Capital Freezes
</a:t>
            </a:r>
            <a:r>
              <a:rPr sz="1050">
                <a:solidFill>
                  <a:srgbClr val="94A3B8"/>
                </a:solidFill>
                <a:latin typeface="Calibri"/>
              </a:rPr>
              <a:t>Account placed on arbitrary reserve hold, starving the independent supplier of operational liquidity.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INDUSTRY RELEVANCE &amp; INNOVATIVE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Existing Market Architecture vs. Java-Native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LEGACY ARCHITECTURAL BOTTLENECKS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Coarse Monolithic Monitors: </a:t>
            </a:r>
            <a:r>
              <a:rPr sz="1100">
                <a:solidFill>
                  <a:srgbClr val="94A3B8"/>
                </a:solidFill>
                <a:latin typeface="Calibri"/>
              </a:rPr>
              <a:t>Global synchronized locks block all transactions across the entire catalog, causing severe server latency under load[span_3](start_span)[span_3](end_span).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Volatile File Serialization: </a:t>
            </a:r>
            <a:r>
              <a:rPr sz="1100">
                <a:solidFill>
                  <a:srgbClr val="94A3B8"/>
                </a:solidFill>
                <a:latin typeface="Calibri"/>
              </a:rPr>
              <a:t>Whole-graph serializations (ObjectOutputStream) dump memory on shutdown, losing transactions if halted abruptly[span_4](start_span)[span_4](end_span).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Static Batch Payouts: </a:t>
            </a:r>
            <a:r>
              <a:rPr sz="1100">
                <a:solidFill>
                  <a:srgbClr val="94A3B8"/>
                </a:solidFill>
                <a:latin typeface="Calibri"/>
              </a:rPr>
              <a:t>Delayed scheduled sweeps create audit gaps and deny micro-sellers instant liquidity upon completed dispatches.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Heavy External Footprint: </a:t>
            </a:r>
            <a:r>
              <a:rPr sz="1100">
                <a:solidFill>
                  <a:srgbClr val="94A3B8"/>
                </a:solidFill>
                <a:latin typeface="Calibri"/>
              </a:rPr>
              <a:t>Complex web runtimes require expensive databases and cloud hosting, pricing out local artisan cooperatives.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PROPOSED JAVA SE ARCHITECTURE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Striped ReentrantLock Manager
</a:t>
            </a:r>
            <a:r>
              <a:rPr sz="1050">
                <a:solidFill>
                  <a:srgbClr val="94A3B8"/>
                </a:solidFill>
                <a:latin typeface="Calibri"/>
              </a:rPr>
              <a:t>Fine-grained per-SKU isolation enables non-blocking parallel checkouts across unique catalog items.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Append-Only Transaction WAL
</a:t>
            </a:r>
            <a:r>
              <a:rPr sz="1050">
                <a:solidFill>
                  <a:srgbClr val="94A3B8"/>
                </a:solidFill>
                <a:latin typeface="Calibri"/>
              </a:rPr>
              <a:t>Low-level FileChannel.force(false) durability writes audit records to disk before network ACK[span_5](start_span)[span_5](end_span).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Dynamic Commission Engine
</a:t>
            </a:r>
            <a:r>
              <a:rPr sz="1050">
                <a:solidFill>
                  <a:srgbClr val="94A3B8"/>
                </a:solidFill>
                <a:latin typeface="Calibri"/>
              </a:rPr>
              <a:t>Subsidized 2% platform fee tier computed automatically via strategy lambdas for micro-artisans[span_6](start_span)[span_6](end_span).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Pure OpenJDK Infrastructure
</a:t>
            </a:r>
            <a:r>
              <a:rPr sz="1050">
                <a:solidFill>
                  <a:srgbClr val="94A3B8"/>
                </a:solidFill>
                <a:latin typeface="Calibri"/>
              </a:rPr>
              <a:t>Fully self-contained client-server platform requiring zero external cloud dependencies or paid plugins[span_7](start_span)[span_7](end_span).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PROBLEM IDENTIFICATION &amp; REQUIREMENT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Stakeholder Interaction &amp; Governance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PLATFORM STAKEHOLDER PROFILES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Micro-Vendor (Artisan): </a:t>
            </a:r>
            <a:r>
              <a:rPr sz="1100">
                <a:solidFill>
                  <a:srgbClr val="94A3B8"/>
                </a:solidFill>
                <a:latin typeface="Calibri"/>
              </a:rPr>
              <a:t>Direct access to real-time inventory listings, automated lower fee tiers, and instant settlement balance releases.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Marketplace Customer: </a:t>
            </a:r>
            <a:r>
              <a:rPr sz="1100">
                <a:solidFill>
                  <a:srgbClr val="94A3B8"/>
                </a:solidFill>
                <a:latin typeface="Calibri"/>
              </a:rPr>
              <a:t>Unified cart processing across multiple vendors, non-blocking catalog discovery, and itemized invoice exports[span_9](start_span)[span_9](end_span).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Platform Administrator: </a:t>
            </a:r>
            <a:r>
              <a:rPr sz="1100">
                <a:solidFill>
                  <a:srgbClr val="94A3B8"/>
                </a:solidFill>
                <a:latin typeface="Calibri"/>
              </a:rPr>
              <a:t>Systemic governance, vendor accreditation verification, dispute mediation, and macro-level telemetry monitoring[span_10](start_span)[span_10](end_span).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Settlement Auditor: </a:t>
            </a:r>
            <a:r>
              <a:rPr sz="1100">
                <a:solidFill>
                  <a:srgbClr val="94A3B8"/>
                </a:solidFill>
                <a:latin typeface="Calibri"/>
              </a:rPr>
              <a:t>Verifies double-entry ledger accuracy through non-repudiable, append-only disk transaction logs.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ROLE GOVERNANCE DATA PIPELINE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Client Socket Connection
</a:t>
            </a:r>
            <a:r>
              <a:rPr sz="1050">
                <a:solidFill>
                  <a:srgbClr val="94A3B8"/>
                </a:solidFill>
                <a:latin typeface="Calibri"/>
              </a:rPr>
              <a:t>User connects over TCP socket; sends role-tagged serialized NetworkPacket[span_11](start_span)[span_11](end_span).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Role-Based Session Scoping
</a:t>
            </a:r>
            <a:r>
              <a:rPr sz="1050">
                <a:solidFill>
                  <a:srgbClr val="94A3B8"/>
                </a:solidFill>
                <a:latin typeface="Calibri"/>
              </a:rPr>
              <a:t>Server validates credentials, binds ClientHandler thread, and opens corresponding view[span_12](start_span)[span_12](end_span).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Transactional Action
</a:t>
            </a:r>
            <a:r>
              <a:rPr sz="1050">
                <a:solidFill>
                  <a:srgbClr val="94A3B8"/>
                </a:solidFill>
                <a:latin typeface="Calibri"/>
              </a:rPr>
              <a:t>Vendor updates stock; Customer initiates checkout; balance ledger adjusts atomically[span_13](start_span)[span_13](end_span).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Dual-Entry State Sync
</a:t>
            </a:r>
            <a:r>
              <a:rPr sz="1050">
                <a:solidFill>
                  <a:srgbClr val="94A3B8"/>
                </a:solidFill>
                <a:latin typeface="Calibri"/>
              </a:rPr>
              <a:t>Auditor views reconciled balance: Customer Debit = Vendor Credit + Platform Escrow.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MEASURABLE SYSTEM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Requirements: Quantified Technical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PRIORITIZED FUNCTIONAL SCOPE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FR-01: Access Control: </a:t>
            </a:r>
            <a:r>
              <a:rPr sz="1100">
                <a:solidFill>
                  <a:srgbClr val="94A3B8"/>
                </a:solidFill>
                <a:latin typeface="Calibri"/>
              </a:rPr>
              <a:t>Cryptographic authentication over TCP streams returning scoped role access (Admin/Vendor/Customer)[span_15](start_span)[span_15](end_span).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FR-02: Isolated Catalog CRUD: </a:t>
            </a:r>
            <a:r>
              <a:rPr sz="1100">
                <a:solidFill>
                  <a:srgbClr val="94A3B8"/>
                </a:solidFill>
                <a:latin typeface="Calibri"/>
              </a:rPr>
              <a:t>Thread-safe catalog updates isolated per vendor SKU to eliminate cross-seller interference[span_16](start_span)[span_16](end_span).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FR-03: Stream-Based Search: </a:t>
            </a:r>
            <a:r>
              <a:rPr sz="1100">
                <a:solidFill>
                  <a:srgbClr val="94A3B8"/>
                </a:solidFill>
                <a:latin typeface="Calibri"/>
              </a:rPr>
              <a:t>Dynamic multi-predicate catalog query engine using Java Streams (price, category, vendor rating)[span_17](start_span)[span_17](end_span).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FR-04: Atomic Multi-Cart Checkout: </a:t>
            </a:r>
            <a:r>
              <a:rPr sz="1100">
                <a:solidFill>
                  <a:srgbClr val="94A3B8"/>
                </a:solidFill>
                <a:latin typeface="Calibri"/>
              </a:rPr>
              <a:t>Transactional consolidation of items from multiple distinct vendors in a single commit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QUANTIFIED NON-FUNCTIONAL TARGETS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Target: Concurrency Safety
</a:t>
            </a:r>
            <a:r>
              <a:rPr sz="1050">
                <a:solidFill>
                  <a:srgbClr val="94A3B8"/>
                </a:solidFill>
                <a:latin typeface="Calibri"/>
              </a:rPr>
              <a:t>Zero overselling incidents across 50 simultaneous checkouts on identical single-stock SKUs.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Target: Latency &amp; Throughput
</a:t>
            </a:r>
            <a:r>
              <a:rPr sz="1050">
                <a:solidFill>
                  <a:srgbClr val="94A3B8"/>
                </a:solidFill>
                <a:latin typeface="Calibri"/>
              </a:rPr>
              <a:t>Sub-50ms checkout latency under nominal load; support for &gt;= 150 concurrent client sockets[span_18](start_span)[span_18](end_span).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Target: Crash Durability
</a:t>
            </a:r>
            <a:r>
              <a:rPr sz="1050">
                <a:solidFill>
                  <a:srgbClr val="94A3B8"/>
                </a:solidFill>
                <a:latin typeface="Calibri"/>
              </a:rPr>
              <a:t>Zero committed transaction loss using FileChannel synchronous byte flushing upon abrupt SIGKILL[span_19](start_span)[span_19](end_span).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Target: Cross-Platform Execution
</a:t>
            </a:r>
            <a:r>
              <a:rPr sz="1050">
                <a:solidFill>
                  <a:srgbClr val="94A3B8"/>
                </a:solidFill>
                <a:latin typeface="Calibri"/>
              </a:rPr>
              <a:t>100% platform portability across OpenJDK 17/21 on Windows, macOS, and Linux[span_20](start_span)[span_20](end_span).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DESIGN &amp;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Architecture: Tiered MVC over TCP Sockets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TIERED ARCHITECTURAL LAYERS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Presentation Tier (Swing GUI): </a:t>
            </a:r>
            <a:r>
              <a:rPr sz="1100">
                <a:solidFill>
                  <a:srgbClr val="94A3B8"/>
                </a:solidFill>
                <a:latin typeface="Calibri"/>
              </a:rPr>
              <a:t>Decoupled asynchronous views (VendorDashboard, CustomerStoreView) emitting serialized payloads[span_23](start_span)[span_23](end_span).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Network Controller Tier: </a:t>
            </a:r>
            <a:r>
              <a:rPr sz="1100">
                <a:solidFill>
                  <a:srgbClr val="94A3B8"/>
                </a:solidFill>
                <a:latin typeface="Calibri"/>
              </a:rPr>
              <a:t>Multi-threaded MarketplaceServer dispatching connections to worker ClientHandler instances[span_24](start_span)[span_24](end_span).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Business Domain Tier: </a:t>
            </a:r>
            <a:r>
              <a:rPr sz="1100">
                <a:solidFill>
                  <a:srgbClr val="94A3B8"/>
                </a:solidFill>
                <a:latin typeface="Calibri"/>
              </a:rPr>
              <a:t>Transactional services executing fine-grained concurrency control and settlement algorithms[span_25](start_span)[span_25](end_span).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Persistence &amp; Storage Tier: </a:t>
            </a:r>
            <a:r>
              <a:rPr sz="1100">
                <a:solidFill>
                  <a:srgbClr val="94A3B8"/>
                </a:solidFill>
                <a:latin typeface="Calibri"/>
              </a:rPr>
              <a:t>Low-level write-ahead logging (WAL) ensuring immediate durability before network dispatch[span_26](start_span)[span_26](end_span).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END-TO-END EXECUTION SEQUENCE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Swing User Event
</a:t>
            </a:r>
            <a:r>
              <a:rPr sz="1050">
                <a:solidFill>
                  <a:srgbClr val="94A3B8"/>
                </a:solidFill>
                <a:latin typeface="Calibri"/>
              </a:rPr>
              <a:t>Customer initiates checkout; event thread packs Order into a generic NetworkPacket[span_27](start_span)[span_27](end_span).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TCP Socket Dispatch
</a:t>
            </a:r>
            <a:r>
              <a:rPr sz="1050">
                <a:solidFill>
                  <a:srgbClr val="94A3B8"/>
                </a:solidFill>
                <a:latin typeface="Calibri"/>
              </a:rPr>
              <a:t>Serialized packet transmitted over TCP socket to port 5000 via ObjectOutputStream[span_28](start_span)[span_28](end_span).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Server Thread Execution
</a:t>
            </a:r>
            <a:r>
              <a:rPr sz="1050">
                <a:solidFill>
                  <a:srgbClr val="94A3B8"/>
                </a:solidFill>
                <a:latin typeface="Calibri"/>
              </a:rPr>
              <a:t>Worker thread claims per-SKU ReentrantLocks, adjusts inventory, and commits ledger[span_29](start_span)[span_29](end_span).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WAL Disk Persistence &amp; ACK
</a:t>
            </a:r>
            <a:r>
              <a:rPr sz="1050">
                <a:solidFill>
                  <a:srgbClr val="94A3B8"/>
                </a:solidFill>
                <a:latin typeface="Calibri"/>
              </a:rPr>
              <a:t>Transaction flushed to disk via FileChannel; success packet updates client Swing table[span_30](start_span)[span_30](end_span).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DESIGN &amp;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Object-Oriented Design &amp; Domain Class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CORE CLASS RELATIONSHIPS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Generalization (Inheritance): </a:t>
            </a:r>
            <a:r>
              <a:rPr sz="1100">
                <a:solidFill>
                  <a:srgbClr val="94A3B8"/>
                </a:solidFill>
                <a:latin typeface="Calibri"/>
              </a:rPr>
              <a:t>User is an abstract base class inherited by Vendor (commission rates) and Customer (wallet balances)[span_33](start_span)[span_33](end_span).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Composition (Lifecycle Binding): </a:t>
            </a:r>
            <a:r>
              <a:rPr sz="1100">
                <a:solidFill>
                  <a:srgbClr val="94A3B8"/>
                </a:solidFill>
                <a:latin typeface="Calibri"/>
              </a:rPr>
              <a:t>Order owns OrderItem; destroying an order cascades directly through its item collection[span_34](start_span)[span_34](end_span).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Aggregation (Catalog Relation): </a:t>
            </a:r>
            <a:r>
              <a:rPr sz="1100">
                <a:solidFill>
                  <a:srgbClr val="94A3B8"/>
                </a:solidFill>
                <a:latin typeface="Calibri"/>
              </a:rPr>
              <a:t>Vendor maintains an aggregated collection of Product references without owning their lifecycle[span_35](start_span)[span_35](end_span).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Interface Abstraction: </a:t>
            </a:r>
            <a:r>
              <a:rPr sz="1100">
                <a:solidFill>
                  <a:srgbClr val="94A3B8"/>
                </a:solidFill>
                <a:latin typeface="Calibri"/>
              </a:rPr>
              <a:t>Repository&lt;T, ID&gt; defines generic storage contracts decoupled from in-memory or disk backends[span_36](start_span)[span_36](end_span).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OOAD STRUCTURAL MAPPING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Abstract Base User
</a:t>
            </a:r>
            <a:r>
              <a:rPr sz="1050">
                <a:solidFill>
                  <a:srgbClr val="94A3B8"/>
                </a:solidFill>
                <a:latin typeface="Calibri"/>
              </a:rPr>
              <a:t>Encapsulates shared authentication state, id, credentials, and abstract display contracts[span_37](start_span)[span_37](end_span).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Domain Entities
</a:t>
            </a:r>
            <a:r>
              <a:rPr sz="1050">
                <a:solidFill>
                  <a:srgbClr val="94A3B8"/>
                </a:solidFill>
                <a:latin typeface="Calibri"/>
              </a:rPr>
              <a:t>Product implements Comparable for TreeSet catalog sorting; OrderItem implements Taxable[span_38](start_span)[span_38](end_span).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Polymorphic Dispatch
</a:t>
            </a:r>
            <a:r>
              <a:rPr sz="1050">
                <a:solidFill>
                  <a:srgbClr val="94A3B8"/>
                </a:solidFill>
                <a:latin typeface="Calibri"/>
              </a:rPr>
              <a:t>Overridden authenticate methods handle role verification; overloaded methods calculate variable taxes[span_39](start_span)[span_39](end_span).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Generic Data Repositories
</a:t>
            </a:r>
            <a:r>
              <a:rPr sz="1050">
                <a:solidFill>
                  <a:srgbClr val="94A3B8"/>
                </a:solidFill>
                <a:latin typeface="Calibri"/>
              </a:rPr>
              <a:t>InMemoryRepository&lt;T, ID&gt; enforces type-safe CRUD operations using Java Generics[span_40](start_span)[span_40](end_span).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DESIGN &amp;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Concurrency Control &amp; Dynamic Settlement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FINE-GRAINED CONCURRENCY CONTROL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Striped Lock Manager: </a:t>
            </a:r>
            <a:r>
              <a:rPr sz="1100">
                <a:solidFill>
                  <a:srgbClr val="94A3B8"/>
                </a:solidFill>
                <a:latin typeface="Calibri"/>
              </a:rPr>
              <a:t>ConcurrentHashMap&lt;String, ReentrantLock&gt; provisions isolated locks per SKU, preventing global stalls[span_43](start_span)[span_43](end_span).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Deadlock-Free Two-Phase Locking: </a:t>
            </a:r>
            <a:r>
              <a:rPr sz="1100">
                <a:solidFill>
                  <a:srgbClr val="94A3B8"/>
                </a:solidFill>
                <a:latin typeface="Calibri"/>
              </a:rPr>
              <a:t>Multi-item carts sort SKUs alphanumerically before lock acquisition to eliminate cyclic wait conditions.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Dynamic Commission Strategy: </a:t>
            </a:r>
            <a:r>
              <a:rPr sz="1100">
                <a:solidFill>
                  <a:srgbClr val="94A3B8"/>
                </a:solidFill>
                <a:latin typeface="Calibri"/>
              </a:rPr>
              <a:t>Subsidized 2% rate applied to verified micro-artisans; 10% rate levied on commercial accounts.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Atomic Escrow Disbursement: </a:t>
            </a:r>
            <a:r>
              <a:rPr sz="1100">
                <a:solidFill>
                  <a:srgbClr val="94A3B8"/>
                </a:solidFill>
                <a:latin typeface="Calibri"/>
              </a:rPr>
              <a:t>Order commit instantaneously credits vendor balance and platform escrow in a single execution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SAFE CHECKOUT WORKFLOW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SKU Lock Acquisition
</a:t>
            </a:r>
            <a:r>
              <a:rPr sz="1050">
                <a:solidFill>
                  <a:srgbClr val="94A3B8"/>
                </a:solidFill>
                <a:latin typeface="Calibri"/>
              </a:rPr>
              <a:t>Thread acquires fair ReentrantLock with a 500ms timeout guard to prevent deadlocks[span_44](start_span)[span_44](end_span).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Inventory Validation
</a:t>
            </a:r>
            <a:r>
              <a:rPr sz="1050">
                <a:solidFill>
                  <a:srgbClr val="94A3B8"/>
                </a:solidFill>
                <a:latin typeface="Calibri"/>
              </a:rPr>
              <a:t>Verifies stock &gt;= requested quantity; throws checked InsufficientStockException on failure[span_45](start_span)[span_45](end_span).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Atomic Memory Decrement
</a:t>
            </a:r>
            <a:r>
              <a:rPr sz="1050">
                <a:solidFill>
                  <a:srgbClr val="94A3B8"/>
                </a:solidFill>
                <a:latin typeface="Calibri"/>
              </a:rPr>
              <a:t>Stock counter decremented in memory; commission split evaluated via functional lambdas[span_46](start_span)[span_46](end_span).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Disk Flush &amp; Lock Release
</a:t>
            </a:r>
            <a:r>
              <a:rPr sz="1050">
                <a:solidFill>
                  <a:srgbClr val="94A3B8"/>
                </a:solidFill>
                <a:latin typeface="Calibri"/>
              </a:rPr>
              <a:t>Transaction written to WAL via FileChannel; all locks released inside a mandatory finally block[span_47](start_span)[span_47](end_span).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TECHNICAL IMPLEMENTATION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Package Architecture &amp; Fault-Tolerant Persistence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MODULAR PACKAGE ARCHITECTURE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com.ecommerce.model: </a:t>
            </a:r>
            <a:r>
              <a:rPr sz="1100">
                <a:solidFill>
                  <a:srgbClr val="94A3B8"/>
                </a:solidFill>
                <a:latin typeface="Calibri"/>
              </a:rPr>
              <a:t>Encapsulated domain entities (User, Vendor, Customer, Product, Order)[span_49](start_span)[span_49](end_span).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com.ecommerce.network: </a:t>
            </a:r>
            <a:r>
              <a:rPr sz="1100">
                <a:solidFill>
                  <a:srgbClr val="94A3B8"/>
                </a:solidFill>
                <a:latin typeface="Calibri"/>
              </a:rPr>
              <a:t>Socket controllers, ClientHandler workers, and serialized NetworkPacket definitions[span_50](start_span)[span_50](end_span).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com.ecommerce.service: </a:t>
            </a:r>
            <a:r>
              <a:rPr sz="1100">
                <a:solidFill>
                  <a:srgbClr val="94A3B8"/>
                </a:solidFill>
                <a:latin typeface="Calibri"/>
              </a:rPr>
              <a:t>Transactional business logic, dynamic settlement, and stream-filtering engines[span_51](start_span)[span_51](end_span).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com.ecommerce.storage: </a:t>
            </a:r>
            <a:r>
              <a:rPr sz="1100">
                <a:solidFill>
                  <a:srgbClr val="94A3B8"/>
                </a:solidFill>
                <a:latin typeface="Calibri"/>
              </a:rPr>
              <a:t>Append-only WriteAheadLogManager and snapshot deserialization recovery engines[span_52](start_span)[span_52](end_span).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FAULT TOLERANCE &amp; UTILITIES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Custom Exception Hierarchy
</a:t>
            </a:r>
            <a:r>
              <a:rPr sz="1050">
                <a:solidFill>
                  <a:srgbClr val="94A3B8"/>
                </a:solidFill>
                <a:latin typeface="Calibri"/>
              </a:rPr>
              <a:t>InsufficientStockException and SettlementException enforce deterministic error recovery[span_53](start_span)[span_53](end_span).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High-Performance Formatting
</a:t>
            </a:r>
            <a:r>
              <a:rPr sz="1050">
                <a:solidFill>
                  <a:srgbClr val="94A3B8"/>
                </a:solidFill>
                <a:latin typeface="Calibri"/>
              </a:rPr>
              <a:t>InvoiceFormatter leverages StringBuilder for thread-safe, low-latency receipt exports[span_54](start_span)[span_54](end_span).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Sequential Write-Ahead Log
</a:t>
            </a:r>
            <a:r>
              <a:rPr sz="1050">
                <a:solidFill>
                  <a:srgbClr val="94A3B8"/>
                </a:solidFill>
                <a:latin typeface="Calibri"/>
              </a:rPr>
              <a:t>FileOutputStream directly appends comma-delimited audit records to disk on each commit[span_55](start_span)[span_55](end_span).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Crash State Reconstruction
</a:t>
            </a:r>
            <a:r>
              <a:rPr sz="1050">
                <a:solidFill>
                  <a:srgbClr val="94A3B8"/>
                </a:solidFill>
                <a:latin typeface="Calibri"/>
              </a:rPr>
              <a:t>Server reboot reads WAL sequentially via BufferedReader, reconstructing active memory states[span_56](start_span)[span_56](end_span).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EVALUATION SUMMARY &amp; PHASE II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Phase I Milestones Completed &amp; Phase II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PHASE I MILESTONE DELIVERABLES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Problem &amp; Scope Analysis: </a:t>
            </a:r>
            <a:r>
              <a:rPr sz="1100">
                <a:solidFill>
                  <a:srgbClr val="94A3B8"/>
                </a:solidFill>
                <a:latin typeface="Calibri"/>
              </a:rPr>
              <a:t>Identified micro-vendor failure modes and mapped operational constraints to UN SDGs 8 and 9[span_59](start_span)[span_59](end_span).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Software Requirements Spec: </a:t>
            </a:r>
            <a:r>
              <a:rPr sz="1100">
                <a:solidFill>
                  <a:srgbClr val="94A3B8"/>
                </a:solidFill>
                <a:latin typeface="Calibri"/>
              </a:rPr>
              <a:t>Formulated 8 prioritized functional requirements and quantified non-functional targets[span_60](start_span)[span_60](end_span).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Object-Oriented Design: </a:t>
            </a:r>
            <a:r>
              <a:rPr sz="1100">
                <a:solidFill>
                  <a:srgbClr val="94A3B8"/>
                </a:solidFill>
                <a:latin typeface="Calibri"/>
              </a:rPr>
              <a:t>Constructed comprehensive PlantUML class specifications and architectural tier diagrams[span_61](start_span)[span_61](end_span).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Core Prototype Foundation: </a:t>
            </a:r>
            <a:r>
              <a:rPr sz="1100">
                <a:solidFill>
                  <a:srgbClr val="94A3B8"/>
                </a:solidFill>
                <a:latin typeface="Calibri"/>
              </a:rPr>
              <a:t>Validated striped locking algorithms, custom exception trees, and domain entity structures[span_62](start_span)[span_62](end_span).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PHASE II DEVELOPMENT ROADMAP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01] </a:t>
            </a:r>
            <a:r>
              <a:rPr b="1" sz="1100">
                <a:solidFill>
                  <a:srgbClr val="F8FAFC"/>
                </a:solidFill>
                <a:latin typeface="Calibri"/>
              </a:rPr>
              <a:t>Sprint 01: Socket Controller
</a:t>
            </a:r>
            <a:r>
              <a:rPr sz="1050">
                <a:solidFill>
                  <a:srgbClr val="94A3B8"/>
                </a:solidFill>
                <a:latin typeface="Calibri"/>
              </a:rPr>
              <a:t>Implement MarketplaceServer with dynamic worker thread pool execution over TCP port 5000[span_63](start_span)[span_63](end_span).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02] </a:t>
            </a:r>
            <a:r>
              <a:rPr b="1" sz="1100">
                <a:solidFill>
                  <a:srgbClr val="F8FAFC"/>
                </a:solidFill>
                <a:latin typeface="Calibri"/>
              </a:rPr>
              <a:t>Sprint 02: Storage Engine
</a:t>
            </a:r>
            <a:r>
              <a:rPr sz="1050">
                <a:solidFill>
                  <a:srgbClr val="94A3B8"/>
                </a:solidFill>
                <a:latin typeface="Calibri"/>
              </a:rPr>
              <a:t>Implement WriteAheadLogManager utilizing FileChannel for transactional disk synchronization[span_64](start_span)[span_64](end_span).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03] </a:t>
            </a:r>
            <a:r>
              <a:rPr b="1" sz="1100">
                <a:solidFill>
                  <a:srgbClr val="F8FAFC"/>
                </a:solidFill>
                <a:latin typeface="Calibri"/>
              </a:rPr>
              <a:t>Sprint 03: Swing Client Views
</a:t>
            </a:r>
            <a:r>
              <a:rPr sz="1050">
                <a:solidFill>
                  <a:srgbClr val="94A3B8"/>
                </a:solidFill>
                <a:latin typeface="Calibri"/>
              </a:rPr>
              <a:t>Build VendorDashboard and CustomerStoreView with dynamic JTable data bindings[span_65](start_span)[span_65](end_span).</a:t>
            </a:r>
          </a:p>
          <a:p>
            <a:pPr>
              <a:spcAft>
                <a:spcPts val="1100"/>
              </a:spcAft>
            </a:pPr>
            <a:r>
              <a:rPr b="1" sz="1000">
                <a:solidFill>
                  <a:srgbClr val="34D399"/>
                </a:solidFill>
                <a:latin typeface="Arial"/>
              </a:rPr>
              <a:t>[Phase 04] </a:t>
            </a:r>
            <a:r>
              <a:rPr b="1" sz="1100">
                <a:solidFill>
                  <a:srgbClr val="F8FAFC"/>
                </a:solidFill>
                <a:latin typeface="Calibri"/>
              </a:rPr>
              <a:t>Sprint 04: Stress &amp; Durability QA
</a:t>
            </a:r>
            <a:r>
              <a:rPr sz="1050">
                <a:solidFill>
                  <a:srgbClr val="94A3B8"/>
                </a:solidFill>
                <a:latin typeface="Calibri"/>
              </a:rPr>
              <a:t>Run multi-client concurrency tests and validate crash recovery scripts for final viva[span_66](start_span)[span_66](end_span).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