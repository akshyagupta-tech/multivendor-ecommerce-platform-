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evaluators. Today we present our Java-native marketplace platform designed to empower micro-vendors through automated settlements and thread-safe trade infrastructure under SDGs 8 and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Research shows that delayed settlements and unsynchronized inventory failures systematically hurt small businesses. Our platform addresses these bottlenecks by providing instant wallet settlements and deadlock-free inventory locking.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While web plugins crash under burst traffic and basic projects use slow global locks, our system introduces fine-grained striped locking and an append-only write-ahead log to achieve zero data loss and low latency in pure Java 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architecture separates the user interface from backend execution using multithreaded TCP sockets. This keeps the Swing interface responsive while the server manages fine-grained locks and immediate file logging.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domain model explicitly demonstrates all core Unit 1 and Unit 2 principles: inheritance, composition, and aggregation. Generic repositories decouple our business services from underlying storage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prevent overselling during flash sales, we implemented fine-grained striped locking using ReentrantLock maps. Purchases for separate products run in parallel, while checkout requests for identical SKUs are strictly synchronized.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system specification includes eight functional requirements alongside measurable performance benchmarks. We guarantee zero inventory overselling under heavy concurrency and native execution on any desktop operating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package architecture separates concerns following standard enterprise conventions. Custom exceptions guarantee clean error handling, while our write-ahead log ensures complete state recovery in the event of an unexpected crash.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project advances SDG 8 by providing small artisans with subsidized 2% commission rates and instant payout releases. It supports SDG 9 by delivering a fault-tolerant marketplace engine that runs reliably on affordable desktop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I delivers a complete requirements analysis, domain model, and architectural blueprint. Our team is prepared to move into Phase II to implement the multithreaded socket server and Swing interfaces.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D4ED8"/>
                </a:solidFill>
                <a:latin typeface="Arial"/>
              </a:defRPr>
            </a:pPr>
            <a:r>
              <a:t>NIET GREATER NOIDA | CAPSTONE PHASE I DEFENSE</a:t>
            </a:r>
          </a:p>
          <a:p>
            <a:pPr>
              <a:spcBef>
                <a:spcPts val="400"/>
              </a:spcBef>
              <a:defRPr sz="2800" b="1">
                <a:solidFill>
                  <a:srgbClr val="0F172A"/>
                </a:solidFill>
                <a:latin typeface="Arial"/>
              </a:defRPr>
            </a:pPr>
            <a:r>
              <a:t>Multi-Vendor E-Commerce Management Platform</a:t>
            </a:r>
          </a:p>
          <a:p>
            <a:pPr>
              <a:spcBef>
                <a:spcPts val="400"/>
              </a:spcBef>
              <a:defRPr sz="1300">
                <a:solidFill>
                  <a:srgbClr val="334155"/>
                </a:solidFill>
                <a:latin typeface="Calibri"/>
              </a:defRPr>
            </a:pPr>
            <a:r>
              <a:t>Topic 271: Java SE Marketplace Infrastructure | Aligned with UN SDGs 8 &amp; 9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240280"/>
            <a:ext cx="1072591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059669"/>
                </a:solidFill>
              </a:rPr>
              <a:t>[SDG 8: DECENT WORK] </a:t>
            </a:r>
            <a:r>
              <a:rPr sz="1100">
                <a:solidFill>
                  <a:srgbClr val="0F172A"/>
                </a:solidFill>
              </a:rPr>
              <a:t>Immediate Liquidity Settlement &amp; Subsidized 2% Artisan Fees   |   </a:t>
            </a:r>
            <a:r>
              <a:rPr b="1" sz="1100">
                <a:solidFill>
                  <a:srgbClr val="1D4ED8"/>
                </a:solidFill>
              </a:rPr>
              <a:t>[SDG 9: RESILIENT INFRASTRUCTURE] </a:t>
            </a:r>
            <a:r>
              <a:rPr sz="1100">
                <a:solidFill>
                  <a:srgbClr val="0F172A"/>
                </a:solidFill>
              </a:rPr>
              <a:t>Zero-Cloud Dependency on Standard Java 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54680"/>
            <a:ext cx="1993392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337560"/>
            <a:ext cx="171907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D4ED8"/>
                </a:solidFill>
              </a:defRPr>
            </a:pPr>
            <a:r>
              <a:t>Akshya Gupta</a:t>
            </a:r>
          </a:p>
          <a:p>
            <a:pPr>
              <a:spcBef>
                <a:spcPts val="300"/>
              </a:spcBef>
              <a:defRPr b="1" sz="1000">
                <a:solidFill>
                  <a:srgbClr val="0F172A"/>
                </a:solidFill>
              </a:defRPr>
            </a:pPr>
            <a:r>
              <a:t>Team Lead &amp; BA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</a:defRPr>
            </a:pPr>
            <a:r>
              <a:t>Req Analysis, SDG Scope &amp; Milestone Tracking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907792" y="3154680"/>
            <a:ext cx="1993392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3337560"/>
            <a:ext cx="171907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D4ED8"/>
                </a:solidFill>
              </a:defRPr>
            </a:pPr>
            <a:r>
              <a:t>Pranav Dogra</a:t>
            </a:r>
          </a:p>
          <a:p>
            <a:pPr>
              <a:spcBef>
                <a:spcPts val="300"/>
              </a:spcBef>
              <a:defRPr b="1" sz="1000">
                <a:solidFill>
                  <a:srgbClr val="0F172A"/>
                </a:solidFill>
              </a:defRPr>
            </a:pPr>
            <a:r>
              <a:t>System Architect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</a:defRPr>
            </a:pPr>
            <a:r>
              <a:t>UML Class Models, Sockets &amp; Concurrency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4064" y="3154680"/>
            <a:ext cx="1993392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21224" y="3337560"/>
            <a:ext cx="171907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D4ED8"/>
                </a:solidFill>
              </a:defRPr>
            </a:pPr>
            <a:r>
              <a:t>Kajal Tiwari</a:t>
            </a:r>
          </a:p>
          <a:p>
            <a:pPr>
              <a:spcBef>
                <a:spcPts val="300"/>
              </a:spcBef>
              <a:defRPr b="1" sz="1000">
                <a:solidFill>
                  <a:srgbClr val="0F172A"/>
                </a:solidFill>
              </a:defRPr>
            </a:pPr>
            <a:r>
              <a:t>Tech Dev Lead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</a:defRPr>
            </a:pPr>
            <a:r>
              <a:t>Order Processing Engine &amp; Lock-Striping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60336" y="3154680"/>
            <a:ext cx="1993392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97496" y="3337560"/>
            <a:ext cx="171907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D4ED8"/>
                </a:solidFill>
              </a:defRPr>
            </a:pPr>
            <a:r>
              <a:t>Priyanshu Rai</a:t>
            </a:r>
          </a:p>
          <a:p>
            <a:pPr>
              <a:spcBef>
                <a:spcPts val="300"/>
              </a:spcBef>
              <a:defRPr b="1" sz="1000">
                <a:solidFill>
                  <a:srgbClr val="0F172A"/>
                </a:solidFill>
              </a:defRPr>
            </a:pPr>
            <a:r>
              <a:t>Integration Lead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</a:defRPr>
            </a:pPr>
            <a:r>
              <a:t>TCP Socket Protocol, Threads &amp; Collections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36608" y="3154680"/>
            <a:ext cx="1993392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73768" y="3337560"/>
            <a:ext cx="171907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D4ED8"/>
                </a:solidFill>
              </a:defRPr>
            </a:pPr>
            <a:r>
              <a:t>Sandeep Kumar</a:t>
            </a:r>
          </a:p>
          <a:p>
            <a:pPr>
              <a:spcBef>
                <a:spcPts val="300"/>
              </a:spcBef>
              <a:defRPr b="1" sz="1000">
                <a:solidFill>
                  <a:srgbClr val="0F172A"/>
                </a:solidFill>
              </a:defRPr>
            </a:pPr>
            <a:r>
              <a:t>QA &amp; Docs Lead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</a:defRPr>
            </a:pPr>
            <a:r>
              <a:t>WAL Durability Tests, Swing UI &amp;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i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1435435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Arial"/>
              </a:defRPr>
            </a:pPr>
            <a:r>
              <a:t>NIET GREATER NOIDA | OBJECT ORIENTED TECHNIQUES USING JAVA (BCSE0352)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65836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Empirical Problem Analysis: Micro-Enterprise Bottlenecks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1663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7091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MARKET FAILURE EVIDENCE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Working Capital Strain: </a:t>
            </a:r>
            <a:r>
              <a:rPr sz="1100">
                <a:solidFill>
                  <a:srgbClr val="334155"/>
                </a:solidFill>
                <a:latin typeface="Calibri"/>
              </a:rPr>
              <a:t>World Bank &amp; IFC data shows 60% to 70% of micro-enterprises face insolvency due to T+14 to T+30 day payout delays.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Predatory Commission Takes: </a:t>
            </a:r>
            <a:r>
              <a:rPr sz="1100">
                <a:solidFill>
                  <a:srgbClr val="334155"/>
                </a:solidFill>
                <a:latin typeface="Calibri"/>
              </a:rPr>
              <a:t>UNCTAD reports indicate 15% to 30% flat fees erase the margins of artisans operating at 12% to 18% profitability.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Flash-Sale Concurrency Failures: </a:t>
            </a:r>
            <a:r>
              <a:rPr sz="1100">
                <a:solidFill>
                  <a:srgbClr val="334155"/>
                </a:solidFill>
                <a:latin typeface="Calibri"/>
              </a:rPr>
              <a:t>ACM studies document 18% to 25% inventory error rates under burst traffic when locking mechanisms are absent.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High ERP Abandonment Rates: </a:t>
            </a:r>
            <a:r>
              <a:rPr sz="1100">
                <a:solidFill>
                  <a:srgbClr val="334155"/>
                </a:solidFill>
                <a:latin typeface="Calibri"/>
              </a:rPr>
              <a:t>Over 70% of SME digitization tools are abandoned within 12 months due to complex cloud hosting and licensing costs.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371600"/>
            <a:ext cx="51663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7091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59669"/>
                </a:solidFill>
                <a:latin typeface="Arial"/>
              </a:defRPr>
            </a:pPr>
            <a:r>
              <a:t>CASCADING VENDOR EXPLOITATION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Delayed Receivables: </a:t>
            </a:r>
            <a:r>
              <a:rPr sz="1100">
                <a:solidFill>
                  <a:srgbClr val="334155"/>
                </a:solidFill>
                <a:latin typeface="Calibri"/>
              </a:rPr>
              <a:t>Centralized marketplaces pool settlement float to earn interest, locking artisan working capital.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Overselling Contention: </a:t>
            </a:r>
            <a:r>
              <a:rPr sz="1100">
                <a:solidFill>
                  <a:srgbClr val="334155"/>
                </a:solidFill>
                <a:latin typeface="Calibri"/>
              </a:rPr>
              <a:t>Check-then-act race conditions permit concurrent purchases of zero-stock items.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Unfair Penalties: </a:t>
            </a:r>
            <a:r>
              <a:rPr sz="1100">
                <a:solidFill>
                  <a:srgbClr val="334155"/>
                </a:solidFill>
                <a:latin typeface="Calibri"/>
              </a:rPr>
              <a:t>Vendors receive algorithmic rating demotions for order cancellations caused by system software bugs.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Platform Monopolization: </a:t>
            </a:r>
            <a:r>
              <a:rPr sz="1100">
                <a:solidFill>
                  <a:srgbClr val="334155"/>
                </a:solidFill>
                <a:latin typeface="Calibri"/>
              </a:rPr>
              <a:t>Small producers lack direct communication channels and transparent ledger records.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i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1435435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Arial"/>
              </a:defRPr>
            </a:pPr>
            <a:r>
              <a:t>NIET GREATER NOIDA | OBJECT ORIENTED TECHNIQUES USING JAVA (BCSE0352)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65836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Existing Market Architecture vs. Proposed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1663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7091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EXISTING PLATFORM FLAWS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Web Plugin Connection Pools: </a:t>
            </a:r>
            <a:r>
              <a:rPr sz="1100">
                <a:solidFill>
                  <a:srgbClr val="334155"/>
                </a:solidFill>
                <a:latin typeface="Calibri"/>
              </a:rPr>
              <a:t>WooCommerce/OpenCart exhaust MySQL connection pools during simultaneous order spikes.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Naive Monolithic Monitors: </a:t>
            </a:r>
            <a:r>
              <a:rPr sz="1100">
                <a:solidFill>
                  <a:srgbClr val="334155"/>
                </a:solidFill>
                <a:latin typeface="Calibri"/>
              </a:rPr>
              <a:t>University Java projects lock the entire catalog globally, crashing server throughput under load.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Volatile State Persistence: </a:t>
            </a:r>
            <a:r>
              <a:rPr sz="1100">
                <a:solidFill>
                  <a:srgbClr val="334155"/>
                </a:solidFill>
                <a:latin typeface="Calibri"/>
              </a:rPr>
              <a:t>Monolithic ObjectOutputStream serialization dumps lose pending transactions on abrupt power failure.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Opaque Dispute Blackboxes: </a:t>
            </a:r>
            <a:r>
              <a:rPr sz="1100">
                <a:solidFill>
                  <a:srgbClr val="334155"/>
                </a:solidFill>
                <a:latin typeface="Calibri"/>
              </a:rPr>
              <a:t>Centralized corporate platforms hold complete authority over merchant balances without non-repudiable audit logs.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371600"/>
            <a:ext cx="51663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7091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59669"/>
                </a:solidFill>
                <a:latin typeface="Arial"/>
              </a:defRPr>
            </a:pPr>
            <a:r>
              <a:t>JAVA SE NATIVE INNOVATIONS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Fine-Grained Striped Locks: </a:t>
            </a:r>
            <a:r>
              <a:rPr sz="1100">
                <a:solidFill>
                  <a:srgbClr val="334155"/>
                </a:solidFill>
                <a:latin typeface="Calibri"/>
              </a:rPr>
              <a:t>ConcurrentHashMap&lt;SKU, ReentrantLock&gt; permits parallel purchases across different items without stalls.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Write-Ahead Log (WAL): </a:t>
            </a:r>
            <a:r>
              <a:rPr sz="1100">
                <a:solidFill>
                  <a:srgbClr val="334155"/>
                </a:solidFill>
                <a:latin typeface="Calibri"/>
              </a:rPr>
              <a:t>Append-only FileChannel.force(false) guarantees transaction durability to disk prior to socket ACK.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Dynamic Tier Commission: </a:t>
            </a:r>
            <a:r>
              <a:rPr sz="1100">
                <a:solidFill>
                  <a:srgbClr val="334155"/>
                </a:solidFill>
                <a:latin typeface="Calibri"/>
              </a:rPr>
              <a:t>Programmatic strategy lambdas charge subsidized 2% rates for artisans and 10% for large firms.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Zero-Cloud Footprint: </a:t>
            </a:r>
            <a:r>
              <a:rPr sz="1100">
                <a:solidFill>
                  <a:srgbClr val="334155"/>
                </a:solidFill>
                <a:latin typeface="Calibri"/>
              </a:rPr>
              <a:t>Self-contained multithreaded TCP socket server and Swing client running natively on OpenJDK 17/21.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i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1435435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Arial"/>
              </a:defRPr>
            </a:pPr>
            <a:r>
              <a:t>NIET GREATER NOIDA | OBJECT ORIENTED TECHNIQUES USING JAVA (BCSE0352)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65836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Multi-Tiered System Architecture (MVC over TCP)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1663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7091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ARCHITECTURAL LAYER BREAKDOWN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Presentation Tier: </a:t>
            </a:r>
            <a:r>
              <a:rPr sz="1100">
                <a:solidFill>
                  <a:srgbClr val="334155"/>
                </a:solidFill>
                <a:latin typeface="Calibri"/>
              </a:rPr>
              <a:t>Asynchronous Java Swing user views (Vendor, Customer, Admin) bound to DefaultTableModel interfaces.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Network Controller Tier: </a:t>
            </a:r>
            <a:r>
              <a:rPr sz="1100">
                <a:solidFill>
                  <a:srgbClr val="334155"/>
                </a:solidFill>
                <a:latin typeface="Calibri"/>
              </a:rPr>
              <a:t>Multi-threaded TCP ServerSocket allocating worker ClientHandler threads per client socket.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Business Domain Tier: </a:t>
            </a:r>
            <a:r>
              <a:rPr sz="1100">
                <a:solidFill>
                  <a:srgbClr val="334155"/>
                </a:solidFill>
                <a:latin typeface="Calibri"/>
              </a:rPr>
              <a:t>Thread-safe service controllers executing order pipelines, catalog streams, and commission splits.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Storage &amp; Memory Tier: </a:t>
            </a:r>
            <a:r>
              <a:rPr sz="1100">
                <a:solidFill>
                  <a:srgbClr val="334155"/>
                </a:solidFill>
                <a:latin typeface="Calibri"/>
              </a:rPr>
              <a:t>High-speed ConcurrentHashMap collections backed by append-only FileChannel write-ahead logs.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371600"/>
            <a:ext cx="51663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37960" y="1691640"/>
            <a:ext cx="46177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783080"/>
            <a:ext cx="4434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563EB"/>
                </a:solidFill>
                <a:latin typeface="Arial"/>
              </a:defRPr>
            </a:pPr>
            <a:r>
              <a:t>Tier 1: Presentation (Swing GUI)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VendorDashboard  |  CustomerStoreView  |  AdminAnalytics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468880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2563EB"/>
                </a:solidFill>
                <a:latin typeface="Calibri"/>
              </a:defRPr>
            </a:pPr>
            <a:r>
              <a:t>▼  TCP / Memory Data Stream  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2816352"/>
            <a:ext cx="46177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907792"/>
            <a:ext cx="4434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  <a:latin typeface="Arial"/>
              </a:defRPr>
            </a:pPr>
            <a:r>
              <a:t>Tier 2: Network Controller (TCP)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ServerSocket (Port 5000)  -&gt;  Worker ClientHandlers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593592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2563EB"/>
                </a:solidFill>
                <a:latin typeface="Calibri"/>
              </a:defRPr>
            </a:pPr>
            <a:r>
              <a:t>▼  TCP / Memory Data Stream  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60" y="3941064"/>
            <a:ext cx="46177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032504"/>
            <a:ext cx="4434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59669"/>
                </a:solidFill>
                <a:latin typeface="Arial"/>
              </a:defRPr>
            </a:pPr>
            <a:r>
              <a:t>Tier 3: Concurrency Engine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Striped ReentrantLock Map  -&gt;  Atomic Catalog Updates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718304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2563EB"/>
                </a:solidFill>
                <a:latin typeface="Calibri"/>
              </a:defRPr>
            </a:pPr>
            <a:r>
              <a:t>▼  TCP / Memory Data Stream  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5065776"/>
            <a:ext cx="4617720" cy="777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5157216"/>
            <a:ext cx="4434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34155"/>
                </a:solidFill>
                <a:latin typeface="Arial"/>
              </a:defRPr>
            </a:pPr>
            <a:r>
              <a:t>Tier 4: Storage &amp; Persistence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Concurrent Collections Cache  -&gt;  Append-Only WAL (Disk)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i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1435435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Arial"/>
              </a:defRPr>
            </a:pPr>
            <a:r>
              <a:t>NIET GREATER NOIDA | OBJECT ORIENTED TECHNIQUES USING JAVA (BCSE0352)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65836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Object-Oriented Design &amp; Domain Class Hierarchy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1663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7091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OOAD STRUCTURAL RELATIONSHIPS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Generalization (Inheritance): </a:t>
            </a:r>
            <a:r>
              <a:rPr sz="1100">
                <a:solidFill>
                  <a:srgbClr val="334155"/>
                </a:solidFill>
                <a:latin typeface="Calibri"/>
              </a:rPr>
              <a:t>Abstract base class User inherited by Vendor (commission rates) and Customer (wallet balance).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Composition (Lifecycle Binding): </a:t>
            </a:r>
            <a:r>
              <a:rPr sz="1100">
                <a:solidFill>
                  <a:srgbClr val="334155"/>
                </a:solidFill>
                <a:latin typeface="Calibri"/>
              </a:rPr>
              <a:t>Order owns a collection of OrderItem instances; destroying an order destroys its items.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Aggregation (Catalog Mapping): </a:t>
            </a:r>
            <a:r>
              <a:rPr sz="1100">
                <a:solidFill>
                  <a:srgbClr val="334155"/>
                </a:solidFill>
                <a:latin typeface="Calibri"/>
              </a:rPr>
              <a:t>Vendor aggregates Product listings without owning their independent product lifecycle.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Interfaces &amp; Generics: </a:t>
            </a:r>
            <a:r>
              <a:rPr sz="1100">
                <a:solidFill>
                  <a:srgbClr val="334155"/>
                </a:solidFill>
                <a:latin typeface="Calibri"/>
              </a:rPr>
              <a:t>Repository&lt;T, ID&gt; generic contracts and Taxable interfaces decouple storage and tax calculation.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371600"/>
            <a:ext cx="51663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37960" y="1691640"/>
            <a:ext cx="210312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764792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2563EB"/>
                </a:solidFill>
                <a:latin typeface="Arial"/>
              </a:defRPr>
            </a:pPr>
            <a:r>
              <a:t>&lt;&lt;abstract&gt;&gt; User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t>id, name, email</a:t>
            </a:r>
            <a:br/>
            <a:r>
              <a:t>+ getRole()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3063240"/>
            <a:ext cx="210312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3136392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2563EB"/>
                </a:solidFill>
                <a:latin typeface="Arial"/>
              </a:defRPr>
            </a:pPr>
            <a:r>
              <a:t>Vendor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t>regNo, balance</a:t>
            </a:r>
            <a:br/>
            <a:r>
              <a:t>+ creditPayout()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06840" y="3063240"/>
            <a:ext cx="210312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3136392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2563EB"/>
                </a:solidFill>
                <a:latin typeface="Arial"/>
              </a:defRPr>
            </a:pPr>
            <a:r>
              <a:t>Customer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t>address, walletBalance</a:t>
            </a:r>
            <a:br/>
            <a:r>
              <a:t>+ deductWallet()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60" y="4480560"/>
            <a:ext cx="210312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553712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2563EB"/>
                </a:solidFill>
                <a:latin typeface="Arial"/>
              </a:defRPr>
            </a:pPr>
            <a:r>
              <a:t>Product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t>sku, title, price, stock</a:t>
            </a:r>
            <a:br/>
            <a:r>
              <a:t>+ decrementStock()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40" y="4480560"/>
            <a:ext cx="210312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4553712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2563EB"/>
                </a:solidFill>
                <a:latin typeface="Arial"/>
              </a:defRPr>
            </a:pPr>
            <a:r>
              <a:t>Order &amp; OrderItem</a:t>
            </a:r>
          </a:p>
          <a:p>
            <a:pPr>
              <a:spcBef>
                <a:spcPts val="300"/>
              </a:spcBef>
              <a:defRPr sz="850">
                <a:solidFill>
                  <a:srgbClr val="334155"/>
                </a:solidFill>
                <a:latin typeface="Calibri"/>
              </a:defRPr>
            </a:pPr>
            <a:r>
              <a:t>orderId, timestamp, items</a:t>
            </a:r>
            <a:br/>
            <a:r>
              <a:t>+ calculateTotal()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i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1435435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Arial"/>
              </a:defRPr>
            </a:pPr>
            <a:r>
              <a:t>NIET GREATER NOIDA | OBJECT ORIENTED TECHNIQUES USING JAVA (BCSE0352)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65836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Concurrency Control &amp; Race Condition Prevention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1663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7091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THREAD SAFETY SPECIFICATIONS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Striped ReentrantLock Map: </a:t>
            </a:r>
            <a:r>
              <a:rPr sz="1100">
                <a:solidFill>
                  <a:srgbClr val="334155"/>
                </a:solidFill>
                <a:latin typeface="Calibri"/>
              </a:rPr>
              <a:t>Isolates locks per SKU; buyers purchasing different items execute completely in parallel.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Deadlock-Free Acquisition: </a:t>
            </a:r>
            <a:r>
              <a:rPr sz="1100">
                <a:solidFill>
                  <a:srgbClr val="334155"/>
                </a:solidFill>
                <a:latin typeface="Calibri"/>
              </a:rPr>
              <a:t>Multi-item carts sort SKUs alphanumerically before lock acquisition to prevent circular waits.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Two-Phase Commit Protocol: </a:t>
            </a:r>
            <a:r>
              <a:rPr sz="1100">
                <a:solidFill>
                  <a:srgbClr val="334155"/>
                </a:solidFill>
                <a:latin typeface="Calibri"/>
              </a:rPr>
              <a:t>Validates stock &gt; 0 under lock, decrements in memory, flushes to WAL, and releases in finally.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Atomic Rejection: </a:t>
            </a:r>
            <a:r>
              <a:rPr sz="1100">
                <a:solidFill>
                  <a:srgbClr val="334155"/>
                </a:solidFill>
                <a:latin typeface="Calibri"/>
              </a:rPr>
              <a:t>Any transaction attempting to buy an empty SKU throws a checked InsufficientStockException.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371600"/>
            <a:ext cx="51663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37960" y="1691640"/>
            <a:ext cx="461772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783080"/>
            <a:ext cx="4434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2563EB"/>
                </a:solidFill>
                <a:latin typeface="Arial"/>
              </a:defRPr>
            </a:pPr>
            <a:r>
              <a:t>[Phase 01] Step 1: Simultaneous Incoming Requests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Client 1 and Client 2 attempt to purchase SKU-101 (Stock: 1) concurrently over TCP.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2852928"/>
            <a:ext cx="461772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944368"/>
            <a:ext cx="4434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59669"/>
                </a:solidFill>
                <a:latin typeface="Arial"/>
              </a:defRPr>
            </a:pPr>
            <a:r>
              <a:t>[Phase 02] Step 2: Striped Lock Acquisition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Client 1 acquires fair ReentrantLock on SKU-101. Client 2 is queued with 500ms timeout.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4014216"/>
            <a:ext cx="461772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4105656"/>
            <a:ext cx="4434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059669"/>
                </a:solidFill>
                <a:latin typeface="Arial"/>
              </a:defRPr>
            </a:pPr>
            <a:r>
              <a:t>[Phase 03] Step 3: Atomic Validation &amp; Commit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Client 1 verifies (1 &gt;= 1), decrements stock to 0, appends record to WAL, and unlocks.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60" y="5175504"/>
            <a:ext cx="461772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5266944"/>
            <a:ext cx="4434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2563EB"/>
                </a:solidFill>
                <a:latin typeface="Arial"/>
              </a:defRPr>
            </a:pPr>
            <a:r>
              <a:t>[Phase 04] Step 4: Safe Atomic Rejection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Client 2 acquires lock, evaluates (0 &lt; 1), and immediately receives InsufficientStockException.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i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1435435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Arial"/>
              </a:defRPr>
            </a:pPr>
            <a:r>
              <a:t>NIET GREATER NOIDA | OBJECT ORIENTED TECHNIQUES USING JAVA (BCSE0352)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65836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System Requirements &amp; Performance Benchmarks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1663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7091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FUNCTIONAL REQUIREMENTS (FRS)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FR-01: Identity Management: </a:t>
            </a:r>
            <a:r>
              <a:rPr sz="1100">
                <a:solidFill>
                  <a:srgbClr val="334155"/>
                </a:solidFill>
                <a:latin typeface="Calibri"/>
              </a:rPr>
              <a:t>TCP socket authentication validating Admin, Vendor, and Customer role permissions.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FR-02: Isolated Catalog CRUD: </a:t>
            </a:r>
            <a:r>
              <a:rPr sz="1100">
                <a:solidFill>
                  <a:srgbClr val="334155"/>
                </a:solidFill>
                <a:latin typeface="Calibri"/>
              </a:rPr>
              <a:t>Thread-safe listing creation, edits, and soft-deletes isolated by vendor ownership.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FR-03: Stream-Based Search: </a:t>
            </a:r>
            <a:r>
              <a:rPr sz="1100">
                <a:solidFill>
                  <a:srgbClr val="334155"/>
                </a:solidFill>
                <a:latin typeface="Calibri"/>
              </a:rPr>
              <a:t>Non-blocking catalog search using Java Streams and functional Predicate lambdas.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FR-04: Atomic Multi-Cart Checkout: </a:t>
            </a:r>
            <a:r>
              <a:rPr sz="1100">
                <a:solidFill>
                  <a:srgbClr val="334155"/>
                </a:solidFill>
                <a:latin typeface="Calibri"/>
              </a:rPr>
              <a:t>Transactional order processing consolidating items from multiple distinct sellers.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371600"/>
            <a:ext cx="51663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7091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59669"/>
                </a:solidFill>
                <a:latin typeface="Arial"/>
              </a:defRPr>
            </a:pPr>
            <a:r>
              <a:t>NON-FUNCTIONAL REQUIREMENTS (NFRS)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Throughput &amp; Latency: </a:t>
            </a:r>
            <a:r>
              <a:rPr sz="1100">
                <a:solidFill>
                  <a:srgbClr val="334155"/>
                </a:solidFill>
                <a:latin typeface="Calibri"/>
              </a:rPr>
              <a:t>Sub-50ms checkout latency under nominal load; handles &gt;= 150 concurrent client connections.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Zero Overselling Guarantee: </a:t>
            </a:r>
            <a:r>
              <a:rPr sz="1100">
                <a:solidFill>
                  <a:srgbClr val="334155"/>
                </a:solidFill>
                <a:latin typeface="Calibri"/>
              </a:rPr>
              <a:t>Zero negative-stock incidents across 50 concurrent checkouts on identical single items.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Crash Recovery Durability: </a:t>
            </a:r>
            <a:r>
              <a:rPr sz="1100">
                <a:solidFill>
                  <a:srgbClr val="334155"/>
                </a:solidFill>
                <a:latin typeface="Calibri"/>
              </a:rPr>
              <a:t>Zero committed transaction loss using FileChannel byte flushing on sudden process halts.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Cross-Platform Portability: </a:t>
            </a:r>
            <a:r>
              <a:rPr sz="1100">
                <a:solidFill>
                  <a:srgbClr val="334155"/>
                </a:solidFill>
                <a:latin typeface="Calibri"/>
              </a:rPr>
              <a:t>100% native execution on OpenJDK 17 and 21 across Windows, macOS, and Linux.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i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1435435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Arial"/>
              </a:defRPr>
            </a:pPr>
            <a:r>
              <a:t>NIET GREATER NOIDA | OBJECT ORIENTED TECHNIQUES USING JAVA (BCSE0352)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65836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Package Architecture &amp; Fault-Tolerant Persistence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1663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7091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MODULAR PACKAGE STRUCTURE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com.ecommerce.model: </a:t>
            </a:r>
            <a:r>
              <a:rPr sz="1100">
                <a:solidFill>
                  <a:srgbClr val="334155"/>
                </a:solidFill>
                <a:latin typeface="Calibri"/>
              </a:rPr>
              <a:t>Encapsulated domain entities: User, Vendor, Customer, Product, Order, OrderItem.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com.ecommerce.network: </a:t>
            </a:r>
            <a:r>
              <a:rPr sz="1100">
                <a:solidFill>
                  <a:srgbClr val="334155"/>
                </a:solidFill>
                <a:latin typeface="Calibri"/>
              </a:rPr>
              <a:t>TCP ServerSocket engine, Runnable ClientHandler workers, and NetworkPacket.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com.ecommerce.service: </a:t>
            </a:r>
            <a:r>
              <a:rPr sz="1100">
                <a:solidFill>
                  <a:srgbClr val="334155"/>
                </a:solidFill>
                <a:latin typeface="Calibri"/>
              </a:rPr>
              <a:t>CatalogService streams, OrderService transactions, and SettlementEngine.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com.ecommerce.storage: </a:t>
            </a:r>
            <a:r>
              <a:rPr sz="1100">
                <a:solidFill>
                  <a:srgbClr val="334155"/>
                </a:solidFill>
                <a:latin typeface="Calibri"/>
              </a:rPr>
              <a:t>WriteAheadLogManager file channels and SnapshotEngine object streams.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371600"/>
            <a:ext cx="51663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7091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59669"/>
                </a:solidFill>
                <a:latin typeface="Arial"/>
              </a:defRPr>
            </a:pPr>
            <a:r>
              <a:t>ERROR RECOVERY &amp; SERIALIZATION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Checked Domain Exceptions: </a:t>
            </a:r>
            <a:r>
              <a:rPr sz="1100">
                <a:solidFill>
                  <a:srgbClr val="334155"/>
                </a:solidFill>
                <a:latin typeface="Calibri"/>
              </a:rPr>
              <a:t>Custom InsufficientStockException and SettlementException enforce clean recovery.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High-Performance String Utilities: </a:t>
            </a:r>
            <a:r>
              <a:rPr sz="1100">
                <a:solidFill>
                  <a:srgbClr val="334155"/>
                </a:solidFill>
                <a:latin typeface="Calibri"/>
              </a:rPr>
              <a:t>InvoiceFormatter leverages StringBuilder for thread-safe receipt construction.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Dual Persistence Model: </a:t>
            </a:r>
            <a:r>
              <a:rPr sz="1100">
                <a:solidFill>
                  <a:srgbClr val="334155"/>
                </a:solidFill>
                <a:latin typeface="Calibri"/>
              </a:rPr>
              <a:t>Combines periodic ObjectOutputStream snapshots with an append-only transaction log.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Crash State Recovery: </a:t>
            </a:r>
            <a:r>
              <a:rPr sz="1100">
                <a:solidFill>
                  <a:srgbClr val="334155"/>
                </a:solidFill>
                <a:latin typeface="Calibri"/>
              </a:rPr>
              <a:t>Server restart reads WAL sequentially to restore active collections without missing orders.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i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1435435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Arial"/>
              </a:defRPr>
            </a:pPr>
            <a:r>
              <a:t>NIET GREATER NOIDA | OBJECT ORIENTED TECHNIQUES USING JAVA (BCSE0352)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65836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Measurable UN Sustainable Development Goals 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1663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7091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SDG 8: DECENT WORK &amp; ECONOMIC GROWTH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T+0 Instant Liquidity: </a:t>
            </a:r>
            <a:r>
              <a:rPr sz="1100">
                <a:solidFill>
                  <a:srgbClr val="334155"/>
                </a:solidFill>
                <a:latin typeface="Calibri"/>
              </a:rPr>
              <a:t>Automated settlement immediately credits vendor balance upon dispatch, eliminating 30-day payout holds.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Subsidized 2% Commission: </a:t>
            </a:r>
            <a:r>
              <a:rPr sz="1100">
                <a:solidFill>
                  <a:srgbClr val="334155"/>
                </a:solidFill>
                <a:latin typeface="Calibri"/>
              </a:rPr>
              <a:t>Programmatic commission tiers cap micro-artisan fees at 2%, protecting informal seller margins.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Verifiable Auditing: </a:t>
            </a:r>
            <a:r>
              <a:rPr sz="1100">
                <a:solidFill>
                  <a:srgbClr val="334155"/>
                </a:solidFill>
                <a:latin typeface="Calibri"/>
              </a:rPr>
              <a:t>Double-entry balance sheets provide mathematical transparency, preventing arbitrary platform clawbacks.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371600"/>
            <a:ext cx="51663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7091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59669"/>
                </a:solidFill>
                <a:latin typeface="Arial"/>
              </a:defRPr>
            </a:pPr>
            <a:r>
              <a:t>SDG 9: INDUSTRY, INNOVATION &amp; INFRASTRUCTURE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Resilient Concurrency Core: </a:t>
            </a:r>
            <a:r>
              <a:rPr sz="1100">
                <a:solidFill>
                  <a:srgbClr val="334155"/>
                </a:solidFill>
                <a:latin typeface="Calibri"/>
              </a:rPr>
              <a:t>Fine-grained striped locking provides enterprise-level transaction throughput on low-cost hardware.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Zero-Cloud Dependency: </a:t>
            </a:r>
            <a:r>
              <a:rPr sz="1100">
                <a:solidFill>
                  <a:srgbClr val="334155"/>
                </a:solidFill>
                <a:latin typeface="Calibri"/>
              </a:rPr>
              <a:t>Runs natively on standard desktop hardware without requiring expensive enterprise cloud databases.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Crash-Proof Fault Tolerance: </a:t>
            </a:r>
            <a:r>
              <a:rPr sz="1100">
                <a:solidFill>
                  <a:srgbClr val="334155"/>
                </a:solidFill>
                <a:latin typeface="Calibri"/>
              </a:rPr>
              <a:t>Append-only write-ahead persistence prevents state loss even during unexpected system terminations.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ie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1435435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36576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Arial"/>
              </a:defRPr>
            </a:pPr>
            <a:r>
              <a:t>NIET GREATER NOIDA | OBJECT ORIENTED TECHNIQUES USING JAVA (BCSE0352)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65836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Phase I Deliverables Checklist &amp; Phase II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1663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7091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PHASE I MILESTONES COMPLETED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Problem &amp; Requirement Analysis: </a:t>
            </a:r>
            <a:r>
              <a:rPr sz="1100">
                <a:solidFill>
                  <a:srgbClr val="334155"/>
                </a:solidFill>
                <a:latin typeface="Calibri"/>
              </a:rPr>
              <a:t>Completed empirical research, stakeholder matrix, and prioritized FRs/NFRs.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System &amp; OOAD Blueprint: </a:t>
            </a:r>
            <a:r>
              <a:rPr sz="1100">
                <a:solidFill>
                  <a:srgbClr val="334155"/>
                </a:solidFill>
                <a:latin typeface="Calibri"/>
              </a:rPr>
              <a:t>Finalized PlantUML class models, sequence flows, and tiered MVC architecture.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Core Prototype Foundation: </a:t>
            </a:r>
            <a:r>
              <a:rPr sz="1100">
                <a:solidFill>
                  <a:srgbClr val="334155"/>
                </a:solidFill>
                <a:latin typeface="Calibri"/>
              </a:rPr>
              <a:t>Validated custom exceptions, striped lock managers, and domain model classes.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Version Control Repository: </a:t>
            </a:r>
            <a:r>
              <a:rPr sz="1100">
                <a:solidFill>
                  <a:srgbClr val="334155"/>
                </a:solidFill>
                <a:latin typeface="Calibri"/>
              </a:rPr>
              <a:t>GitHub repository established with standard package directory hierarchies.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371600"/>
            <a:ext cx="51663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00200"/>
            <a:ext cx="47091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59669"/>
                </a:solidFill>
                <a:latin typeface="Arial"/>
              </a:defRPr>
            </a:pPr>
            <a:r>
              <a:t>PHASE II SPRINT SCHEDULE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Sprint 1 (Network Core): </a:t>
            </a:r>
            <a:r>
              <a:rPr sz="1100">
                <a:solidFill>
                  <a:srgbClr val="334155"/>
                </a:solidFill>
                <a:latin typeface="Calibri"/>
              </a:rPr>
              <a:t>Implement MarketplaceServer with dynamic worker thread pool on TCP port 5000.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Sprint 2 (Durability Engine): </a:t>
            </a:r>
            <a:r>
              <a:rPr sz="1100">
                <a:solidFill>
                  <a:srgbClr val="334155"/>
                </a:solidFill>
                <a:latin typeface="Calibri"/>
              </a:rPr>
              <a:t>Implement WriteAheadLogManager using FileChannel for transaction persistence.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Sprint 3 (Swing Presentation): </a:t>
            </a:r>
            <a:r>
              <a:rPr sz="1100">
                <a:solidFill>
                  <a:srgbClr val="334155"/>
                </a:solidFill>
                <a:latin typeface="Calibri"/>
              </a:rPr>
              <a:t>Build VendorDashboard and CustomerStoreView with dynamic JTable bindings.</a:t>
            </a:r>
          </a:p>
          <a:p>
            <a:pPr>
              <a:spcAft>
                <a:spcPts val="1000"/>
              </a:spcAft>
            </a:pPr>
            <a:r>
              <a:rPr b="1" sz="1100">
                <a:solidFill>
                  <a:srgbClr val="0F172A"/>
                </a:solidFill>
                <a:latin typeface="Calibri"/>
              </a:rPr>
              <a:t>Sprint 4 (Stress Testing &amp; QA): </a:t>
            </a:r>
            <a:r>
              <a:rPr sz="1100">
                <a:solidFill>
                  <a:srgbClr val="334155"/>
                </a:solidFill>
                <a:latin typeface="Calibri"/>
              </a:rPr>
              <a:t>Execute multithreaded JMeter injection and crash recovery validation for final viva.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